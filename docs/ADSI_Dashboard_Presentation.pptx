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4" r:id="rId5"/>
    <p:sldId id="260" r:id="rId6"/>
    <p:sldId id="261" r:id="rId7"/>
    <p:sldId id="262" r:id="rId8"/>
    <p:sldId id="263" r:id="rId9"/>
    <p:sldId id="264" r:id="rId10"/>
    <p:sldId id="265" r:id="rId11"/>
    <p:sldId id="27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43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105F-168B-58C4-B796-AC9A93C8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6BFDC-ADC4-7625-1B13-0A89ADDC3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D921A-A387-7B5A-A777-3850AAD81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0DBA-9562-0C14-47EB-967BBC45C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61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2F9C-BE85-9E6D-AC6C-3CFD43598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505C6-64F1-D5E0-A293-69DFCFAFD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18FDA-AFA5-3E06-679E-5DEB2FECF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5FEA0-8473-8982-3AC3-C18609868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1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33D48-C340-8BD1-2F2A-37BD35682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E733E4-BBBF-8AF9-7BE6-B290B4981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F1814-21E5-C2C5-0D94-1A6410B4C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3947C-3A8D-ECB9-55CF-0B442D6481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416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677F8-81FF-BE8A-C4AC-50A733E0D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3A205-670C-DC6D-ADDF-BF4330FDC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EA199-C095-906E-A4CA-FB28E9A2E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7BE63-2EE3-8D6F-B410-E5A49CB4E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93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4A06A-5F31-6426-5E20-5CB62428E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CE300-7E2D-EC1F-1206-4B6769606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80D4F-89AB-7B75-145F-51E1D63D0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ABFE3-595E-C017-A66C-C20A7CDF77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44A3F-D2E9-11F2-B5D8-495C4D4F5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D710A-E3E2-3A0F-8F54-F0F4DCF2B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2BE2B-4209-1D65-721E-7BE8B9DA1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83926-150A-56B2-F9D5-0C1DB9D970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264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A1C8-F7D1-F0BE-E038-F4B9A03E3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A01D7-2EA2-1B7C-93A5-7FA011DF7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E8832-5164-1038-2387-EBEF137E8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33512-B7D6-B4DC-1434-84A06E729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852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1332C-E4FD-0ED4-B292-4B6A0FBFA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15EAF-0DD0-ED1D-D1BB-DBC33D694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E6963-394A-BA9F-28ED-D00D7E68E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8CF8D-D517-FAA9-4128-688A816167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74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18906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E68"/>
                </a:solidFill>
              </a:rPr>
              <a:t>ADSI Inverter Dashboard</a:t>
            </a:r>
          </a:p>
          <a:p>
            <a:pPr marL="0" indent="0" algn="ctr">
              <a:buNone/>
            </a:pPr>
            <a:r>
              <a:rPr dirty="0"/>
              <a:t>Application Overview  v2.4.8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</a:rPr>
              <a:t>Prepared by Engr. Clariden D. Montano, REE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E68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40538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dirty="0">
                <a:solidFill>
                  <a:srgbClr val="333333"/>
                </a:solidFill>
              </a:rPr>
              <a:t>The ADSI Inverter Dashboard is a SCADA-based monitoring and control platform. It consolidates live telemetry, analytics, ML-driven forecasting, and remote operations into one desktop interface.</a:t>
            </a:r>
          </a:p>
          <a:p>
            <a:endParaRPr sz="2000" dirty="0">
              <a:solidFill>
                <a:srgbClr val="333333"/>
              </a:solidFill>
            </a:endParaRPr>
          </a:p>
          <a:p>
            <a:r>
              <a:rPr sz="1600" b="1" dirty="0">
                <a:solidFill>
                  <a:srgbClr val="333333"/>
                </a:solidFill>
              </a:rPr>
              <a:t>Main Highlights: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>
                <a:solidFill>
                  <a:srgbClr val="333333"/>
                </a:solidFill>
              </a:rPr>
              <a:t>Real-time inverter and node-level telemetry with supervised control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>
                <a:solidFill>
                  <a:srgbClr val="333333"/>
                </a:solidFill>
              </a:rPr>
              <a:t>ML-trained day-ahead forecasting with cap-aware data reconstruction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 err="1">
                <a:solidFill>
                  <a:srgbClr val="333333"/>
                </a:solidFill>
              </a:rPr>
              <a:t>Solcast</a:t>
            </a:r>
            <a:r>
              <a:rPr sz="1400" dirty="0">
                <a:solidFill>
                  <a:srgbClr val="333333"/>
                </a:solidFill>
              </a:rPr>
              <a:t> integration via free Toolkit - no paid API subscription required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>
                <a:solidFill>
                  <a:srgbClr val="333333"/>
                </a:solidFill>
              </a:rPr>
              <a:t>Dynamic per-inverter availability (first non-zero PAC to last zero PAC)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>
                <a:solidFill>
                  <a:srgbClr val="333333"/>
                </a:solidFill>
              </a:rPr>
              <a:t>Plant Output Auto Capping for automated generation curtailment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>
                <a:solidFill>
                  <a:srgbClr val="333333"/>
                </a:solidFill>
              </a:rPr>
              <a:t>Gateway/Remote architecture with secure replication and standby DB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>
                <a:solidFill>
                  <a:srgbClr val="333333"/>
                </a:solidFill>
              </a:rPr>
              <a:t>Cloud backup and restore via OneDrive or Google Drive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>
                <a:solidFill>
                  <a:srgbClr val="333333"/>
                </a:solidFill>
              </a:rPr>
              <a:t>Operator messaging, alarm episode tracking, and structured data exports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E68"/>
                </a:solidFill>
              </a:rPr>
              <a:t>Main Dashboard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1" y="4400684"/>
            <a:ext cx="822959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400">
                <a:solidFill>
                  <a:srgbClr val="333333"/>
                </a:solidFill>
              </a:rPr>
              <a:t>Central view of real-time plant output, daily generation (TODAY MWh), fleet status chips, PAC output band indicators, and fast inverter start/stop control.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437EE9-F2F2-4F31-E342-ADD7162FAB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6275" y="887527"/>
            <a:ext cx="6691450" cy="34206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417EE-2977-97FE-0857-50E1C0C7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CD8266-427D-8B96-0D32-91976B3BA06A}"/>
              </a:ext>
            </a:extLst>
          </p:cNvPr>
          <p:cNvSpPr/>
          <p:nvPr/>
        </p:nvSpPr>
        <p:spPr>
          <a:xfrm>
            <a:off x="457200" y="2057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E68"/>
                </a:solidFill>
              </a:rPr>
              <a:t>Plant Output Auto Capping</a:t>
            </a:r>
            <a:endParaRPr lang="en-US" sz="2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70A4FE5-D950-0B2C-9763-D559514C66C2}"/>
              </a:ext>
            </a:extLst>
          </p:cNvPr>
          <p:cNvSpPr/>
          <p:nvPr/>
        </p:nvSpPr>
        <p:spPr>
          <a:xfrm>
            <a:off x="457201" y="4400684"/>
            <a:ext cx="822959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333333"/>
                </a:solidFill>
              </a:rPr>
              <a:t>Automatically regulates total plant output within a defined MW band by sequentially stopping and starting whole inverters. Operators set upper and lower limits, exempt specific units, and preview the control plan before activation. Cap-dispatched actions are scope-tagged in the audit log so the ML forecast engine can reconstruct training data accurately.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DB0B7-842E-486A-20C7-89B6D22E61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6275" y="901475"/>
            <a:ext cx="6691450" cy="339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89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567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E68"/>
                </a:solidFill>
              </a:rPr>
              <a:t>Analytics Dashboard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18902" y="4382589"/>
            <a:ext cx="71061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333333"/>
                </a:solidFill>
              </a:rPr>
              <a:t>Interval energy charts with day-ahead forecast overlay, actual vs forecast variance, peak interval tracking, selected date summary metrics, and integrated 7-day weather outlook.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18AA7E-34F6-38C4-7326-54D027F84F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3993" y="840829"/>
            <a:ext cx="7036013" cy="35931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614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E68"/>
                </a:solidFill>
              </a:rPr>
              <a:t>Energy Generation Tracker</a:t>
            </a:r>
            <a:endParaRPr lang="en-US" sz="28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4825" y="917666"/>
            <a:ext cx="7034349" cy="35503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333333"/>
                </a:solidFill>
              </a:rPr>
              <a:t>Server-computed current-day energy derived from PAC-based 5-minute intervals. Per-inverter KPI tiles with daily energy totals and single-date energy summary export.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9819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Daily Performance Report</a:t>
            </a:r>
            <a:endParaRPr lang="en-US" sz="28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7087" y="842554"/>
            <a:ext cx="6769826" cy="34747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333333"/>
                </a:solidFill>
              </a:rPr>
              <a:t>Per-inverter daily report with energy (MWh), peak/avg PAC, uptime, alarm count, dynamic availability (calculated from each inverter actual production window, not a fixed solar window), and performance ratio. Plant availability averages across all configured inverters including inactive ones.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2479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E68"/>
                </a:solidFill>
              </a:rPr>
              <a:t>Alarms and Alerts</a:t>
            </a:r>
            <a:endParaRPr lang="en-US" sz="28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5442" y="875211"/>
            <a:ext cx="6833115" cy="34681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333333"/>
                </a:solidFill>
              </a:rPr>
              <a:t>Episode-based alarm tracking with severity, duration, and acknowledgement state. Alarm sound triggers only for sustained unacknowledged episodes exceeding 5 seconds. Same-node alarm value changes within an active episode do not retrigger sound.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022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E68"/>
                </a:solidFill>
              </a:rPr>
              <a:t>Operations History</a:t>
            </a:r>
            <a:endParaRPr lang="en-US" sz="28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7898" y="881745"/>
            <a:ext cx="6848203" cy="34291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333333"/>
                </a:solidFill>
              </a:rPr>
              <a:t>Full traceability of all inverter start/stop commands with operator identity, timestamps, and scope tagging. Plant-cap dispatch actions carry scope plant-cap so the forecast training engine can distinguish automated curtailment from manual stops.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/>
              <a:t>DAY-AHEAD FORECASTING AND SOLCAST</a:t>
            </a:r>
            <a:endParaRPr lang="en-US" sz="2800" b="1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041" y="914399"/>
            <a:ext cx="7443917" cy="38274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A6D24-A685-C109-734F-92AECC7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0F0921-126B-76E2-09FD-B9CC93A251F7}"/>
              </a:ext>
            </a:extLst>
          </p:cNvPr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/>
              <a:t>DAY-AHEAD FORECASTING AND SOLCAST</a:t>
            </a:r>
            <a:endParaRPr lang="en-US" sz="2800" b="1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6393CB6-953D-2F15-14CA-C5F11529C61E}"/>
              </a:ext>
            </a:extLst>
          </p:cNvPr>
          <p:cNvSpPr/>
          <p:nvPr/>
        </p:nvSpPr>
        <p:spPr>
          <a:xfrm>
            <a:off x="671103" y="1084217"/>
            <a:ext cx="7671164" cy="3331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rgbClr val="333333"/>
                </a:solidFill>
              </a:rPr>
              <a:t>ML-trained day-ahead forecasting </a:t>
            </a:r>
            <a:r>
              <a:rPr sz="1600" dirty="0">
                <a:solidFill>
                  <a:srgbClr val="333333"/>
                </a:solidFill>
              </a:rPr>
              <a:t>with cap-aware data reconstruction, intraday adjustment, and error memory correction.</a:t>
            </a:r>
            <a:endParaRPr lang="en-US" sz="1600" dirty="0"/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sz="1600" b="1" dirty="0" err="1">
                <a:solidFill>
                  <a:srgbClr val="333333"/>
                </a:solidFill>
              </a:rPr>
              <a:t>Solcast</a:t>
            </a:r>
            <a:r>
              <a:rPr sz="1600" b="1" dirty="0">
                <a:solidFill>
                  <a:srgbClr val="333333"/>
                </a:solidFill>
              </a:rPr>
              <a:t> Integration </a:t>
            </a:r>
            <a:r>
              <a:rPr sz="1600" dirty="0">
                <a:solidFill>
                  <a:srgbClr val="333333"/>
                </a:solidFill>
              </a:rPr>
              <a:t>- </a:t>
            </a:r>
            <a:r>
              <a:rPr sz="1600" b="1" dirty="0">
                <a:solidFill>
                  <a:srgbClr val="333333"/>
                </a:solidFill>
              </a:rPr>
              <a:t>No Paid Subscription Required</a:t>
            </a:r>
            <a:r>
              <a:rPr sz="1600" dirty="0">
                <a:solidFill>
                  <a:srgbClr val="333333"/>
                </a:solidFill>
              </a:rPr>
              <a:t>:</a:t>
            </a:r>
            <a:r>
              <a:rPr lang="en-US" sz="1600" dirty="0">
                <a:solidFill>
                  <a:srgbClr val="333333"/>
                </a:solidFill>
              </a:rPr>
              <a:t> </a:t>
            </a:r>
            <a:r>
              <a:rPr sz="1600" i="1" dirty="0">
                <a:solidFill>
                  <a:srgbClr val="333333"/>
                </a:solidFill>
              </a:rPr>
              <a:t>The dashboard uses the free </a:t>
            </a:r>
            <a:r>
              <a:rPr sz="1600" i="1" dirty="0" err="1">
                <a:solidFill>
                  <a:srgbClr val="333333"/>
                </a:solidFill>
              </a:rPr>
              <a:t>Solcast</a:t>
            </a:r>
            <a:r>
              <a:rPr sz="1600" i="1" dirty="0">
                <a:solidFill>
                  <a:srgbClr val="333333"/>
                </a:solidFill>
              </a:rPr>
              <a:t> Toolkit embedded chart for solar forecast visualization. The Toolkit URL is constructed server-side from just three operator inputs: Plant Resource ID, Forecast Days (1-7), and Resolution (PT5M to PT60M).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sz="1600" dirty="0">
              <a:solidFill>
                <a:srgbClr val="333333"/>
              </a:solidFill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rgbClr val="333333"/>
                </a:solidFill>
              </a:rPr>
              <a:t>No </a:t>
            </a:r>
            <a:r>
              <a:rPr sz="1600" b="1" dirty="0" err="1">
                <a:solidFill>
                  <a:srgbClr val="333333"/>
                </a:solidFill>
              </a:rPr>
              <a:t>Solcast</a:t>
            </a:r>
            <a:r>
              <a:rPr sz="1600" b="1" dirty="0">
                <a:solidFill>
                  <a:srgbClr val="333333"/>
                </a:solidFill>
              </a:rPr>
              <a:t> API key or paid subscription is needed. </a:t>
            </a:r>
            <a:r>
              <a:rPr sz="1600" dirty="0">
                <a:solidFill>
                  <a:srgbClr val="333333"/>
                </a:solidFill>
              </a:rPr>
              <a:t>The Toolkit is a publicly available visualization tool provided by </a:t>
            </a:r>
            <a:r>
              <a:rPr sz="1600" dirty="0" err="1">
                <a:solidFill>
                  <a:srgbClr val="333333"/>
                </a:solidFill>
              </a:rPr>
              <a:t>Solcast</a:t>
            </a:r>
            <a:r>
              <a:rPr sz="1600" dirty="0">
                <a:solidFill>
                  <a:srgbClr val="333333"/>
                </a:solidFill>
              </a:rPr>
              <a:t> at no cost. This eliminates recurring subscription fees while still providing professional-grade solar irradiance forecast data for day-ahead scheduling and intra-day updates.</a:t>
            </a:r>
          </a:p>
        </p:txBody>
      </p:sp>
    </p:spTree>
    <p:extLst>
      <p:ext uri="{BB962C8B-B14F-4D97-AF65-F5344CB8AC3E}">
        <p14:creationId xmlns:p14="http://schemas.microsoft.com/office/powerpoint/2010/main" val="3834738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756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E68"/>
                </a:solidFill>
              </a:rPr>
              <a:t>Data Export</a:t>
            </a:r>
            <a:endParaRPr lang="en-US" sz="28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9734" y="784118"/>
            <a:ext cx="6864531" cy="36050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333333"/>
                </a:solidFill>
              </a:rPr>
              <a:t>Structured Excel and CSV exports for energy summaries, daily reports, trained day-ahead vs actual, </a:t>
            </a:r>
            <a:r>
              <a:rPr sz="1200" dirty="0" err="1">
                <a:solidFill>
                  <a:srgbClr val="333333"/>
                </a:solidFill>
              </a:rPr>
              <a:t>Solcast</a:t>
            </a:r>
            <a:r>
              <a:rPr sz="1200" dirty="0">
                <a:solidFill>
                  <a:srgbClr val="333333"/>
                </a:solidFill>
              </a:rPr>
              <a:t> day-ahead vs actual, and </a:t>
            </a:r>
            <a:r>
              <a:rPr sz="1200" dirty="0" err="1">
                <a:solidFill>
                  <a:srgbClr val="333333"/>
                </a:solidFill>
              </a:rPr>
              <a:t>Solcast</a:t>
            </a:r>
            <a:r>
              <a:rPr sz="1200" dirty="0">
                <a:solidFill>
                  <a:srgbClr val="333333"/>
                </a:solidFill>
              </a:rPr>
              <a:t> toolkit data. Configurable export paths with separate forecast subfolder routing by source.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E68"/>
                </a:solidFill>
              </a:rPr>
              <a:t>Settings Section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7FEFA76-A8BD-278A-BF58-F26E72934EB6}"/>
              </a:ext>
            </a:extLst>
          </p:cNvPr>
          <p:cNvSpPr/>
          <p:nvPr/>
        </p:nvSpPr>
        <p:spPr>
          <a:xfrm>
            <a:off x="548640" y="1005840"/>
            <a:ext cx="8138160" cy="2958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rgbClr val="333333"/>
                </a:solidFill>
              </a:rPr>
              <a:t>Centralized configuration for plant setup, data retention, polling intervals, plant output cap defaults, </a:t>
            </a:r>
            <a:r>
              <a:rPr dirty="0" err="1">
                <a:solidFill>
                  <a:srgbClr val="333333"/>
                </a:solidFill>
              </a:rPr>
              <a:t>Solcast</a:t>
            </a:r>
            <a:r>
              <a:rPr dirty="0">
                <a:solidFill>
                  <a:srgbClr val="333333"/>
                </a:solidFill>
              </a:rPr>
              <a:t> toolkit parameters, gateway/remote connectivity, license management, and auto-updates.</a:t>
            </a:r>
            <a:endParaRPr lang="en-US" dirty="0"/>
          </a:p>
          <a:p>
            <a:endParaRPr lang="en-US" dirty="0"/>
          </a:p>
          <a:p>
            <a:r>
              <a:rPr b="1" dirty="0">
                <a:solidFill>
                  <a:srgbClr val="333333"/>
                </a:solidFill>
              </a:rPr>
              <a:t>Main Highlights: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>
                <a:solidFill>
                  <a:srgbClr val="333333"/>
                </a:solidFill>
              </a:rPr>
              <a:t>Cloud Backup (OneDrive / Google Drive)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>
                <a:solidFill>
                  <a:srgbClr val="333333"/>
                </a:solidFill>
              </a:rPr>
              <a:t>Gateway-Remote architecture with WebSocket live bridge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>
                <a:solidFill>
                  <a:srgbClr val="333333"/>
                </a:solidFill>
              </a:rPr>
              <a:t>Inverter IP Address and Topology Configuration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 err="1">
                <a:solidFill>
                  <a:srgbClr val="333333"/>
                </a:solidFill>
              </a:rPr>
              <a:t>Solcast</a:t>
            </a:r>
            <a:r>
              <a:rPr sz="1400" dirty="0">
                <a:solidFill>
                  <a:srgbClr val="333333"/>
                </a:solidFill>
              </a:rPr>
              <a:t> Toolkit Settings (Resource ID, Days, Resolution)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400" dirty="0">
                <a:solidFill>
                  <a:srgbClr val="333333"/>
                </a:solidFill>
              </a:rPr>
              <a:t>App Updates with auto-download installer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0E31-A2B0-3550-7230-891DB75D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78BEBF-FFC6-EF96-84CF-4919AA49C75A}"/>
              </a:ext>
            </a:extLst>
          </p:cNvPr>
          <p:cNvSpPr/>
          <p:nvPr/>
        </p:nvSpPr>
        <p:spPr>
          <a:xfrm>
            <a:off x="457200" y="274320"/>
            <a:ext cx="8229600" cy="444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E68"/>
                </a:solidFill>
              </a:rPr>
              <a:t>Data Cloud Backup</a:t>
            </a: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23C65E6B-5EDC-DF3D-70E2-72B9E69ED646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1058906" y="718458"/>
            <a:ext cx="7026186" cy="366249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6C861EB-C99C-A451-9010-DC5E3C10C332}"/>
              </a:ext>
            </a:extLst>
          </p:cNvPr>
          <p:cNvSpPr/>
          <p:nvPr/>
        </p:nvSpPr>
        <p:spPr>
          <a:xfrm>
            <a:off x="558436" y="4380949"/>
            <a:ext cx="8027126" cy="540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200" dirty="0"/>
              <a:t>Scheduled cloud backup to OneDrive or Google Drive with configurable retention. Supports manual backup, restore with settings preservation, and encrypted credential storage.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92106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929AE-C998-C248-AB54-15E62222C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62A9A4-A956-FD01-E1E2-1A6731C121CB}"/>
              </a:ext>
            </a:extLst>
          </p:cNvPr>
          <p:cNvSpPr/>
          <p:nvPr/>
        </p:nvSpPr>
        <p:spPr>
          <a:xfrm>
            <a:off x="457200" y="24166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Gateway-Remote Data Synchronization</a:t>
            </a: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E90CC71E-3509-C3BC-24F0-B9583A1CEF7F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1129937" y="805642"/>
            <a:ext cx="6884126" cy="356582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49BD4D8-81D3-5BEB-2AD5-0C48AB133E65}"/>
              </a:ext>
            </a:extLst>
          </p:cNvPr>
          <p:cNvSpPr/>
          <p:nvPr/>
        </p:nvSpPr>
        <p:spPr>
          <a:xfrm>
            <a:off x="320040" y="4389120"/>
            <a:ext cx="8458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333333"/>
                </a:solidFill>
              </a:rPr>
              <a:t>Gateway-to-remote architecture with incremental cursor-based replication, standby DB refresh (pull), and data push. Remote mode displays live gateway data without local persistence. Operator name is preserved during sync. Manual pull detects local-newer data to prevent accidental overwrites.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22627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323DD-870D-91E1-4860-CB812E5C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389A26-1D0B-A043-6E2E-A88EE1686244}"/>
              </a:ext>
            </a:extLst>
          </p:cNvPr>
          <p:cNvSpPr/>
          <p:nvPr/>
        </p:nvSpPr>
        <p:spPr>
          <a:xfrm>
            <a:off x="457200" y="274320"/>
            <a:ext cx="8229600" cy="417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E68"/>
                </a:solidFill>
              </a:rPr>
              <a:t>Inverter IP Address Configuration</a:t>
            </a: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693B3774-577F-A8DC-6D71-8161C183312D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1243447" y="796837"/>
            <a:ext cx="6657105" cy="361583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3C11F9F-8E79-1E6F-9EB5-18F0177D658C}"/>
              </a:ext>
            </a:extLst>
          </p:cNvPr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333333"/>
                </a:solidFill>
              </a:rPr>
              <a:t>Configures inverter IP addresses, active node assignments, and polling parameters. Changes apply after confirmation and are protected from accidental remote overwrite during replication.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82989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9F08C-3511-C3DD-5F90-0FC0E6D7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90E4E2-A3B7-A3AD-77B0-0A9A78048819}"/>
              </a:ext>
            </a:extLst>
          </p:cNvPr>
          <p:cNvSpPr/>
          <p:nvPr/>
        </p:nvSpPr>
        <p:spPr>
          <a:xfrm>
            <a:off x="457200" y="274320"/>
            <a:ext cx="8229600" cy="417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E68"/>
                </a:solidFill>
              </a:rPr>
              <a:t>Inverter Network Overview</a:t>
            </a: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70C7F3D9-D59F-BCF0-FB23-F218BCDD05FF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1243447" y="882370"/>
            <a:ext cx="6657105" cy="344476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AB8DFC0-F465-3633-F4A5-E087E035FBF2}"/>
              </a:ext>
            </a:extLst>
          </p:cNvPr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333333"/>
                </a:solidFill>
              </a:rPr>
              <a:t>Visual topology map of inverter connectivity, status, and block structure. Quickly identifies online, offline, and degraded devices across the plant network with time-limited auth gate access.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9508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B87C6-AEDA-BEF8-9D50-444F86BB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F17ED4-319F-24BD-225B-5A249CBE1E99}"/>
              </a:ext>
            </a:extLst>
          </p:cNvPr>
          <p:cNvSpPr/>
          <p:nvPr/>
        </p:nvSpPr>
        <p:spPr>
          <a:xfrm>
            <a:off x="457200" y="274320"/>
            <a:ext cx="8229600" cy="417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E68"/>
                </a:solidFill>
              </a:rPr>
              <a:t>Application Updates and Version Management</a:t>
            </a: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26618E85-A33E-8577-70C6-8F0BE940EF2B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1341194" y="776900"/>
            <a:ext cx="6461611" cy="352696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6D25B96-85B8-C1E2-7E61-1E8F187641CC}"/>
              </a:ext>
            </a:extLst>
          </p:cNvPr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400">
                <a:solidFill>
                  <a:srgbClr val="333333"/>
                </a:solidFill>
              </a:rPr>
              <a:t>Centralized update interface with auto-check, download, and Restart and Install workflow. Uses coordinated shutdown with soft-stop signaling to Python services before installer handoff.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12564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4EE0-4D98-05DC-CECA-E0FB3933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F0B5A9-EFB7-8290-2D52-DD7C84725A88}"/>
              </a:ext>
            </a:extLst>
          </p:cNvPr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E68"/>
                </a:solidFill>
              </a:rPr>
              <a:t>Others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E3684C-FF75-DD51-3229-802986B3B3F1}"/>
              </a:ext>
            </a:extLst>
          </p:cNvPr>
          <p:cNvSpPr/>
          <p:nvPr/>
        </p:nvSpPr>
        <p:spPr>
          <a:xfrm>
            <a:off x="532311" y="992777"/>
            <a:ext cx="8079377" cy="3298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+mj-lt"/>
              <a:buAutoNum type="alphaUcPeriod"/>
            </a:pPr>
            <a:r>
              <a:rPr sz="1600" b="1" dirty="0">
                <a:solidFill>
                  <a:srgbClr val="333333"/>
                </a:solidFill>
              </a:rPr>
              <a:t>Plant Output Auto Capping </a:t>
            </a:r>
            <a:r>
              <a:rPr lang="en-US" sz="1600" b="1" dirty="0">
                <a:solidFill>
                  <a:srgbClr val="333333"/>
                </a:solidFill>
              </a:rPr>
              <a:t>– </a:t>
            </a:r>
            <a:r>
              <a:rPr lang="en-US" sz="1600" dirty="0">
                <a:solidFill>
                  <a:srgbClr val="333333"/>
                </a:solidFill>
              </a:rPr>
              <a:t>a</a:t>
            </a:r>
            <a:r>
              <a:rPr sz="1600" dirty="0">
                <a:solidFill>
                  <a:srgbClr val="333333"/>
                </a:solidFill>
              </a:rPr>
              <a:t>utomaticall</a:t>
            </a:r>
            <a:r>
              <a:rPr lang="en-US" sz="1600" dirty="0">
                <a:solidFill>
                  <a:srgbClr val="333333"/>
                </a:solidFill>
              </a:rPr>
              <a:t>y</a:t>
            </a:r>
            <a:r>
              <a:rPr sz="1600" dirty="0">
                <a:solidFill>
                  <a:srgbClr val="333333"/>
                </a:solidFill>
              </a:rPr>
              <a:t> curtails generation during negative market price or grid dispatch orders.</a:t>
            </a:r>
            <a:endParaRPr lang="en-US" sz="1600" dirty="0"/>
          </a:p>
          <a:p>
            <a:pPr marL="342900" indent="-342900">
              <a:buFont typeface="+mj-lt"/>
              <a:buAutoNum type="alphaUcPeriod"/>
            </a:pPr>
            <a:r>
              <a:rPr sz="1600" b="1" dirty="0">
                <a:solidFill>
                  <a:srgbClr val="333333"/>
                </a:solidFill>
              </a:rPr>
              <a:t>Active Alarm Sound </a:t>
            </a:r>
            <a:r>
              <a:rPr lang="en-US" sz="1600" b="1" dirty="0">
                <a:solidFill>
                  <a:srgbClr val="333333"/>
                </a:solidFill>
              </a:rPr>
              <a:t>–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dirty="0">
                <a:solidFill>
                  <a:srgbClr val="333333"/>
                </a:solidFill>
              </a:rPr>
              <a:t>sustaine</a:t>
            </a:r>
            <a:r>
              <a:rPr lang="en-US" sz="1600" dirty="0">
                <a:solidFill>
                  <a:srgbClr val="333333"/>
                </a:solidFill>
              </a:rPr>
              <a:t>d</a:t>
            </a:r>
            <a:r>
              <a:rPr sz="1600" dirty="0">
                <a:solidFill>
                  <a:srgbClr val="333333"/>
                </a:solidFill>
              </a:rPr>
              <a:t> alarm episodes trigger audible alerts to capture operator attention (5-second threshold).</a:t>
            </a:r>
          </a:p>
          <a:p>
            <a:pPr marL="342900" indent="-342900">
              <a:buFont typeface="+mj-lt"/>
              <a:buAutoNum type="alphaUcPeriod"/>
            </a:pPr>
            <a:r>
              <a:rPr sz="1600" b="1" dirty="0">
                <a:solidFill>
                  <a:srgbClr val="333333"/>
                </a:solidFill>
              </a:rPr>
              <a:t>Built-in ML Forecast Engine </a:t>
            </a:r>
            <a:r>
              <a:rPr lang="en-US" sz="1600" b="1" dirty="0">
                <a:solidFill>
                  <a:srgbClr val="333333"/>
                </a:solidFill>
              </a:rPr>
              <a:t>–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dirty="0">
                <a:solidFill>
                  <a:srgbClr val="333333"/>
                </a:solidFill>
              </a:rPr>
              <a:t>traine</a:t>
            </a:r>
            <a:r>
              <a:rPr lang="en-US" sz="1600" dirty="0">
                <a:solidFill>
                  <a:srgbClr val="333333"/>
                </a:solidFill>
              </a:rPr>
              <a:t>d</a:t>
            </a:r>
            <a:r>
              <a:rPr sz="1600" dirty="0">
                <a:solidFill>
                  <a:srgbClr val="333333"/>
                </a:solidFill>
              </a:rPr>
              <a:t> day-ahead model with cap-aware reconstruction, intraday adjustment, and error memory.</a:t>
            </a:r>
          </a:p>
          <a:p>
            <a:pPr marL="342900" indent="-342900">
              <a:buFont typeface="+mj-lt"/>
              <a:buAutoNum type="alphaUcPeriod"/>
            </a:pPr>
            <a:r>
              <a:rPr sz="1600" b="1" dirty="0" err="1">
                <a:solidFill>
                  <a:srgbClr val="333333"/>
                </a:solidFill>
              </a:rPr>
              <a:t>Solcast</a:t>
            </a:r>
            <a:r>
              <a:rPr sz="1600" b="1" dirty="0">
                <a:solidFill>
                  <a:srgbClr val="333333"/>
                </a:solidFill>
              </a:rPr>
              <a:t> Toolkit </a:t>
            </a:r>
            <a:r>
              <a:rPr lang="en-US" sz="1600" b="1" dirty="0">
                <a:solidFill>
                  <a:srgbClr val="333333"/>
                </a:solidFill>
              </a:rPr>
              <a:t>–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dirty="0">
                <a:solidFill>
                  <a:srgbClr val="333333"/>
                </a:solidFill>
              </a:rPr>
              <a:t>free embedded forecast visualization using only a Plant Resource ID. No </a:t>
            </a:r>
            <a:r>
              <a:rPr sz="1600" dirty="0" err="1">
                <a:solidFill>
                  <a:srgbClr val="333333"/>
                </a:solidFill>
              </a:rPr>
              <a:t>Solcast</a:t>
            </a:r>
            <a:r>
              <a:rPr sz="1600" dirty="0">
                <a:solidFill>
                  <a:srgbClr val="333333"/>
                </a:solidFill>
              </a:rPr>
              <a:t> API subscription or key required.</a:t>
            </a:r>
          </a:p>
          <a:p>
            <a:pPr marL="342900" indent="-342900">
              <a:buFont typeface="+mj-lt"/>
              <a:buAutoNum type="alphaUcPeriod"/>
            </a:pPr>
            <a:r>
              <a:rPr sz="1600" b="1" dirty="0">
                <a:solidFill>
                  <a:srgbClr val="333333"/>
                </a:solidFill>
              </a:rPr>
              <a:t>Downloadable User Guide </a:t>
            </a:r>
            <a:r>
              <a:rPr lang="en-US" sz="1600" b="1" dirty="0">
                <a:solidFill>
                  <a:srgbClr val="333333"/>
                </a:solidFill>
              </a:rPr>
              <a:t>–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dirty="0">
                <a:solidFill>
                  <a:srgbClr val="333333"/>
                </a:solidFill>
              </a:rPr>
              <a:t>comprehensive in-app HTML guide with PDF download covering all 21 sections.</a:t>
            </a:r>
          </a:p>
          <a:p>
            <a:pPr marL="342900" indent="-342900">
              <a:buFont typeface="+mj-lt"/>
              <a:buAutoNum type="alphaUcPeriod"/>
            </a:pPr>
            <a:r>
              <a:rPr sz="1600" b="1" dirty="0">
                <a:solidFill>
                  <a:srgbClr val="333333"/>
                </a:solidFill>
              </a:rPr>
              <a:t>Operator Messaging </a:t>
            </a:r>
            <a:r>
              <a:rPr lang="en-US" sz="1600" b="1" dirty="0">
                <a:solidFill>
                  <a:srgbClr val="333333"/>
                </a:solidFill>
              </a:rPr>
              <a:t>–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dirty="0">
                <a:solidFill>
                  <a:srgbClr val="333333"/>
                </a:solidFill>
              </a:rPr>
              <a:t>compact gateway-to-remote note channel with read receipts and rate limiting.</a:t>
            </a:r>
          </a:p>
        </p:txBody>
      </p:sp>
    </p:spTree>
    <p:extLst>
      <p:ext uri="{BB962C8B-B14F-4D97-AF65-F5344CB8AC3E}">
        <p14:creationId xmlns:p14="http://schemas.microsoft.com/office/powerpoint/2010/main" val="4260483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943</Words>
  <Application>Microsoft Office PowerPoint</Application>
  <PresentationFormat>On-screen Show (16:9)</PresentationFormat>
  <Paragraphs>83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ADSI Inverter Dashboard Application Proposal</dc:title>
  <dc:subject>PptxGenJS Presentation</dc:subject>
  <dc:creator>Engr. Clariden D. Montano</dc:creator>
  <cp:lastModifiedBy>CLARIDEN D. MONTANO</cp:lastModifiedBy>
  <cp:revision>15</cp:revision>
  <dcterms:created xsi:type="dcterms:W3CDTF">2026-03-13T02:11:18Z</dcterms:created>
  <dcterms:modified xsi:type="dcterms:W3CDTF">2026-03-16T04:04:35Z</dcterms:modified>
</cp:coreProperties>
</file>